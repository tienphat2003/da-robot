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75" r:id="rId3"/>
    <p:sldId id="348" r:id="rId4"/>
    <p:sldId id="346" r:id="rId5"/>
    <p:sldId id="344" r:id="rId6"/>
    <p:sldId id="349" r:id="rId7"/>
    <p:sldId id="343" r:id="rId8"/>
    <p:sldId id="375" r:id="rId9"/>
    <p:sldId id="384" r:id="rId10"/>
    <p:sldId id="385" r:id="rId11"/>
    <p:sldId id="352" r:id="rId12"/>
    <p:sldId id="351" r:id="rId13"/>
    <p:sldId id="394" r:id="rId14"/>
    <p:sldId id="395" r:id="rId15"/>
    <p:sldId id="359" r:id="rId16"/>
    <p:sldId id="360" r:id="rId17"/>
    <p:sldId id="361" r:id="rId18"/>
    <p:sldId id="362" r:id="rId19"/>
    <p:sldId id="373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72" y="312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7" Type="http://schemas.openxmlformats.org/officeDocument/2006/relationships/image" Target="../media/image30.wmf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Relationship Id="rId3" Type="http://schemas.openxmlformats.org/officeDocument/2006/relationships/image" Target="../media/image26.e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293A-EAE5-415B-A200-7E52F54D1A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3A3B-B110-4F01-9423-767620472A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293A-EAE5-415B-A200-7E52F54D1A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3A3B-B110-4F01-9423-767620472A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293A-EAE5-415B-A200-7E52F54D1A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3A3B-B110-4F01-9423-767620472A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293A-EAE5-415B-A200-7E52F54D1A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3A3B-B110-4F01-9423-767620472A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293A-EAE5-415B-A200-7E52F54D1A5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3A3B-B110-4F01-9423-767620472A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293A-EAE5-415B-A200-7E52F54D1A5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3A3B-B110-4F01-9423-767620472A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293A-EAE5-415B-A200-7E52F54D1A5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3A3B-B110-4F01-9423-767620472A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293A-EAE5-415B-A200-7E52F54D1A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3A3B-B110-4F01-9423-767620472A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293A-EAE5-415B-A200-7E52F54D1A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3A3B-B110-4F01-9423-767620472A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293A-EAE5-415B-A200-7E52F54D1A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3A3B-B110-4F01-9423-767620472A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293A-EAE5-415B-A200-7E52F54D1A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3A3B-B110-4F01-9423-767620472A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g nộ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1644073" y="201414"/>
            <a:ext cx="8783781" cy="695492"/>
          </a:xfrm>
          <a:solidFill>
            <a:srgbClr val="E7F0F9"/>
          </a:solidFill>
          <a:ln>
            <a:solidFill>
              <a:srgbClr val="0070C0"/>
            </a:solidFill>
            <a:prstDash val="dash"/>
          </a:ln>
        </p:spPr>
        <p:txBody>
          <a:bodyPr anchor="ctr" anchorCtr="0">
            <a:normAutofit/>
          </a:bodyPr>
          <a:lstStyle>
            <a:lvl1pPr marL="514350" indent="-514350">
              <a:buFont typeface="+mj-lt"/>
              <a:buAutoNum type="arabicPeriod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SG" dirty="0"/>
              <a:t>Content</a:t>
            </a:r>
            <a:endParaRPr lang="en-SG" dirty="0"/>
          </a:p>
        </p:txBody>
      </p:sp>
      <p:sp>
        <p:nvSpPr>
          <p:cNvPr id="10" name="Date Placeholder 8"/>
          <p:cNvSpPr>
            <a:spLocks noGrp="1"/>
          </p:cNvSpPr>
          <p:nvPr>
            <p:ph type="dt" sz="half" idx="14"/>
          </p:nvPr>
        </p:nvSpPr>
        <p:spPr>
          <a:xfrm>
            <a:off x="405847" y="6356350"/>
            <a:ext cx="3025775" cy="365125"/>
          </a:xfrm>
        </p:spPr>
        <p:txBody>
          <a:bodyPr/>
          <a:lstStyle/>
          <a:p>
            <a:fld id="{935E1902-143F-44EB-9B55-BF75C8ACDFAD}" type="datetime1">
              <a:rPr lang="en-SG" smtClean="0"/>
            </a:fld>
            <a:endParaRPr lang="en-SG"/>
          </a:p>
        </p:txBody>
      </p:sp>
      <p:sp>
        <p:nvSpPr>
          <p:cNvPr id="11" name="Footer Placeholder 11"/>
          <p:cNvSpPr>
            <a:spLocks noGrp="1"/>
          </p:cNvSpPr>
          <p:nvPr>
            <p:ph type="ftr" sz="quarter" idx="15"/>
          </p:nvPr>
        </p:nvSpPr>
        <p:spPr>
          <a:xfrm>
            <a:off x="4038599" y="6356349"/>
            <a:ext cx="4114800" cy="365125"/>
          </a:xfrm>
        </p:spPr>
        <p:txBody>
          <a:bodyPr/>
          <a:lstStyle/>
          <a:p>
            <a:endParaRPr lang="en-SG"/>
          </a:p>
        </p:txBody>
      </p:sp>
      <p:sp>
        <p:nvSpPr>
          <p:cNvPr id="12" name="Slide Number Placeholder 13"/>
          <p:cNvSpPr>
            <a:spLocks noGrp="1"/>
          </p:cNvSpPr>
          <p:nvPr>
            <p:ph type="sldNum" sz="quarter" idx="16"/>
          </p:nvPr>
        </p:nvSpPr>
        <p:spPr>
          <a:xfrm>
            <a:off x="8760378" y="6367143"/>
            <a:ext cx="3025775" cy="365125"/>
          </a:xfrm>
        </p:spPr>
        <p:txBody>
          <a:bodyPr/>
          <a:lstStyle/>
          <a:p>
            <a:fld id="{2BA667B7-7BA5-4DB2-A058-B66A386C003C}" type="slidenum">
              <a:rPr lang="en-SG" smtClean="0"/>
            </a:fld>
            <a:endParaRPr lang="en-SG"/>
          </a:p>
        </p:txBody>
      </p:sp>
      <p:pic>
        <p:nvPicPr>
          <p:cNvPr id="21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105"/>
          <a:stretch>
            <a:fillRect/>
          </a:stretch>
        </p:blipFill>
        <p:spPr bwMode="auto">
          <a:xfrm>
            <a:off x="405847" y="76879"/>
            <a:ext cx="946231" cy="94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0865" y="107307"/>
            <a:ext cx="1065287" cy="88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05847" y="1161462"/>
            <a:ext cx="11380305" cy="5070353"/>
          </a:xfrm>
          <a:ln>
            <a:solidFill>
              <a:srgbClr val="0070C0"/>
            </a:solidFill>
            <a:prstDash val="dash"/>
          </a:ln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C293A-EAE5-415B-A200-7E52F54D1A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E3A3B-B110-4F01-9423-767620472A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wmf"/><Relationship Id="rId8" Type="http://schemas.openxmlformats.org/officeDocument/2006/relationships/oleObject" Target="../embeddings/oleObject5.bin"/><Relationship Id="rId7" Type="http://schemas.openxmlformats.org/officeDocument/2006/relationships/image" Target="../media/image11.wmf"/><Relationship Id="rId6" Type="http://schemas.openxmlformats.org/officeDocument/2006/relationships/oleObject" Target="../embeddings/oleObject4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15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14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1.w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7.w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16.wmf"/><Relationship Id="rId1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5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.bin"/><Relationship Id="rId8" Type="http://schemas.openxmlformats.org/officeDocument/2006/relationships/image" Target="../media/image27.e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24.wmf"/><Relationship Id="rId18" Type="http://schemas.openxmlformats.org/officeDocument/2006/relationships/vmlDrawing" Target="../drawings/vmlDrawing6.v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31.wmf"/><Relationship Id="rId15" Type="http://schemas.openxmlformats.org/officeDocument/2006/relationships/oleObject" Target="../embeddings/oleObject25.bin"/><Relationship Id="rId14" Type="http://schemas.openxmlformats.org/officeDocument/2006/relationships/image" Target="../media/image30.wmf"/><Relationship Id="rId13" Type="http://schemas.openxmlformats.org/officeDocument/2006/relationships/oleObject" Target="../embeddings/oleObject24.bin"/><Relationship Id="rId12" Type="http://schemas.openxmlformats.org/officeDocument/2006/relationships/image" Target="../media/image29.emf"/><Relationship Id="rId11" Type="http://schemas.openxmlformats.org/officeDocument/2006/relationships/oleObject" Target="../embeddings/oleObject23.bin"/><Relationship Id="rId10" Type="http://schemas.openxmlformats.org/officeDocument/2006/relationships/image" Target="../media/image28.emf"/><Relationship Id="rId1" Type="http://schemas.openxmlformats.org/officeDocument/2006/relationships/oleObject" Target="../embeddings/oleObject18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3.emf"/><Relationship Id="rId1" Type="http://schemas.openxmlformats.org/officeDocument/2006/relationships/oleObject" Target="../embeddings/oleObject26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4.emf"/><Relationship Id="rId1" Type="http://schemas.openxmlformats.org/officeDocument/2006/relationships/oleObject" Target="../embeddings/oleObject27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5.emf"/><Relationship Id="rId1" Type="http://schemas.openxmlformats.org/officeDocument/2006/relationships/oleObject" Target="../embeddings/oleObject28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wmf"/><Relationship Id="rId8" Type="http://schemas.openxmlformats.org/officeDocument/2006/relationships/oleObject" Target="../embeddings/oleObject32.bin"/><Relationship Id="rId7" Type="http://schemas.openxmlformats.org/officeDocument/2006/relationships/image" Target="../media/image39.wmf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8.jpeg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36.w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41.jpeg"/><Relationship Id="rId1" Type="http://schemas.openxmlformats.org/officeDocument/2006/relationships/oleObject" Target="../embeddings/oleObject29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2009163" y="241519"/>
            <a:ext cx="8173673" cy="5064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SƯ PHẠM KỸ THUẬT TP.HCM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4135770" y="646097"/>
            <a:ext cx="3920455" cy="5064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ĐIỆN – ĐIỆN TỬ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2952922" y="1244824"/>
            <a:ext cx="6286150" cy="5064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 ÁN: KỸ THUẬT ROBOT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5381537" y="2145223"/>
            <a:ext cx="1428925" cy="4413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ĐỀ TÀI 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1"/>
          <p:cNvSpPr txBox="1"/>
          <p:nvPr/>
        </p:nvSpPr>
        <p:spPr>
          <a:xfrm>
            <a:off x="1393269" y="2863456"/>
            <a:ext cx="9405458" cy="10701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MÔ HÌNH VÀ ĐIỀU KHIỂN CÁNH TAY ROBOT 4 BẬC TỰ DO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1524000" y="458985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GVHD: TS. Đặng Xuân Ba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Vũ Tiến Phát - 21151309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631" y="3884159"/>
            <a:ext cx="4153096" cy="2442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627295" y="193025"/>
            <a:ext cx="8783781" cy="695492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MỤC TIÊU ĐỀ TÀI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sz="quarter" idx="17"/>
          </p:nvPr>
        </p:nvSpPr>
        <p:spPr>
          <a:xfrm>
            <a:off x="405847" y="1143000"/>
            <a:ext cx="11380305" cy="5153025"/>
          </a:xfrm>
        </p:spPr>
        <p:txBody>
          <a:bodyPr/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Xây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dựng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cánh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tay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robot 4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bậc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do.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khiển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PID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khiển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góc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quay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robot.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toán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thuyết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robot: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hoạch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quỹ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đạo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endParaRPr lang="en-US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làm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diện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khiển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cánh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tay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robot 4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bậc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do.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CƠ SỞ LÝ THUYẾT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MÔ HÌNH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drawing of a mechanical arm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399" y="1153579"/>
            <a:ext cx="4488501" cy="2275421"/>
          </a:xfrm>
          <a:prstGeom prst="rect">
            <a:avLst/>
          </a:prstGeom>
        </p:spPr>
      </p:pic>
      <p:pic>
        <p:nvPicPr>
          <p:cNvPr id="5" name="Picture 4" descr="A drawing of a machine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011" y="1153579"/>
            <a:ext cx="2757187" cy="2690072"/>
          </a:xfrm>
          <a:prstGeom prst="rect">
            <a:avLst/>
          </a:prstGeom>
        </p:spPr>
      </p:pic>
      <p:pic>
        <p:nvPicPr>
          <p:cNvPr id="6" name="Picture 5" descr="A drawing of a machine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799" y="3863708"/>
            <a:ext cx="4488501" cy="22153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13773" y="3429000"/>
            <a:ext cx="2247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12940" y="3838744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44230" y="5848217"/>
            <a:ext cx="2217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ĐẶT TRỤC CHO ROBOT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l="28982" t="38485" r="26654" b="11906"/>
          <a:stretch>
            <a:fillRect/>
          </a:stretch>
        </p:blipFill>
        <p:spPr bwMode="auto">
          <a:xfrm>
            <a:off x="867212" y="1987518"/>
            <a:ext cx="4704488" cy="2959163"/>
          </a:xfrm>
          <a:prstGeom prst="rect">
            <a:avLst/>
          </a:prstGeom>
          <a:ln>
            <a:noFill/>
          </a:ln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096000" y="1915026"/>
          <a:ext cx="5630780" cy="310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Visio" r:id="rId2" imgW="4398010" imgH="2440305" progId="Visio.Drawing.15">
                  <p:embed/>
                </p:oleObj>
              </mc:Choice>
              <mc:Fallback>
                <p:oleObj name="Visio" r:id="rId2" imgW="4398010" imgH="2440305" progId="Visio.Drawing.15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915026"/>
                        <a:ext cx="5630780" cy="31041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ĐỘNG HỌC THUẬN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"/>
          <a:srcRect l="28982" t="38485" r="26654" b="11906"/>
          <a:stretch>
            <a:fillRect/>
          </a:stretch>
        </p:blipFill>
        <p:spPr bwMode="auto">
          <a:xfrm>
            <a:off x="989559" y="995493"/>
            <a:ext cx="3833071" cy="2411034"/>
          </a:xfrm>
          <a:prstGeom prst="rect">
            <a:avLst/>
          </a:prstGeom>
          <a:ln>
            <a:noFill/>
          </a:ln>
        </p:spPr>
      </p:pic>
      <p:sp>
        <p:nvSpPr>
          <p:cNvPr id="21" name="Rectangle 20"/>
          <p:cNvSpPr/>
          <p:nvPr/>
        </p:nvSpPr>
        <p:spPr>
          <a:xfrm>
            <a:off x="582144" y="3505114"/>
            <a:ext cx="212385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 –H: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0995" y="4239895"/>
            <a:ext cx="11431270" cy="95313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indent="457200"/>
            <a:r>
              <a:rPr lang="en-US" sz="2800" b="0" cap="none" spc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 có dạng tổng quát ma trận chuyển đổi từ hệ trục toạ độ {i} sang hệ trục toạ độ {i-1} là:</a:t>
            </a:r>
            <a:endParaRPr lang="en-US" sz="2800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5645150" y="1130935"/>
          <a:ext cx="554418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440"/>
                <a:gridCol w="1240155"/>
                <a:gridCol w="1183640"/>
                <a:gridCol w="1163320"/>
                <a:gridCol w="1230630"/>
              </a:tblGrid>
              <a:tr h="4997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lang="en-US" sz="2800" kern="1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i-1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α</a:t>
                      </a:r>
                      <a:r>
                        <a:rPr lang="en-US" sz="2800" kern="1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i-1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en-US" sz="2800" kern="1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i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θ</a:t>
                      </a:r>
                      <a:r>
                        <a:rPr lang="en-US" sz="2800" kern="1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i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θ</a:t>
                      </a:r>
                      <a:r>
                        <a:rPr lang="en-US" sz="2800" kern="1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</a:t>
                      </a:r>
                      <a:endParaRPr lang="en-US" sz="2800" kern="100" baseline="-25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28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θ</a:t>
                      </a:r>
                      <a:r>
                        <a:rPr lang="en-US" sz="2800" kern="1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2</a:t>
                      </a:r>
                      <a:endParaRPr lang="en-US" sz="2800" kern="100" baseline="-25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28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θ</a:t>
                      </a:r>
                      <a:r>
                        <a:rPr lang="en-US" sz="2800" kern="1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3</a:t>
                      </a:r>
                      <a:endParaRPr lang="en-US" sz="2800" kern="100" baseline="-25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</a:tr>
              <a:tr h="432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28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θ</a:t>
                      </a:r>
                      <a:r>
                        <a:rPr lang="en-US" sz="2800" kern="1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4</a:t>
                      </a:r>
                      <a:endParaRPr lang="en-US" sz="2800" kern="100" baseline="-25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EE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28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Object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410643" y="5189855"/>
          <a:ext cx="2141220" cy="1150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850900" imgH="457200" progId="Equation.KSEE3">
                  <p:embed/>
                </p:oleObj>
              </mc:Choice>
              <mc:Fallback>
                <p:oleObj name="" r:id="rId2" imgW="850900" imgH="4572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10643" y="5189855"/>
                        <a:ext cx="2141220" cy="1150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4"/>
          <p:cNvSpPr txBox="1"/>
          <p:nvPr/>
        </p:nvSpPr>
        <p:spPr>
          <a:xfrm>
            <a:off x="5645150" y="5193030"/>
            <a:ext cx="8401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Với: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Object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35670" y="5193665"/>
          <a:ext cx="2830195" cy="1144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4" imgW="1028700" imgH="457200" progId="Equation.KSEE3">
                  <p:embed/>
                </p:oleObj>
              </mc:Choice>
              <mc:Fallback>
                <p:oleObj name="" r:id="rId4" imgW="1028700" imgH="457200" progId="Equation.KSEE3">
                  <p:embed/>
                  <p:pic>
                    <p:nvPicPr>
                      <p:cNvPr id="0" name="Picture 10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35670" y="5193665"/>
                        <a:ext cx="2830195" cy="1144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6" imgW="114300" imgH="215900" progId="Equation.KSEE3">
                  <p:embed/>
                </p:oleObj>
              </mc:Choice>
              <mc:Fallback>
                <p:oleObj name="" r:id="rId6" imgW="114300" imgH="215900" progId="Equation.KSEE3">
                  <p:embed/>
                  <p:pic>
                    <p:nvPicPr>
                      <p:cNvPr id="0" name="Picture 102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8470" y="5187315"/>
          <a:ext cx="4912995" cy="1518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8" imgW="2959100" imgH="914400" progId="Equation.KSEE3">
                  <p:embed/>
                </p:oleObj>
              </mc:Choice>
              <mc:Fallback>
                <p:oleObj name="" r:id="rId8" imgW="2959100" imgH="914400" progId="Equation.KSEE3">
                  <p:embed/>
                  <p:pic>
                    <p:nvPicPr>
                      <p:cNvPr id="0" name="Picture 102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8470" y="5187315"/>
                        <a:ext cx="4912995" cy="1518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ĐỘNG HỌC THUẬN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2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61442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1" imgW="114300" imgH="215900" progId="Equation.KSEE3">
                  <p:embed/>
                </p:oleObj>
              </mc:Choice>
              <mc:Fallback>
                <p:oleObj name="" r:id="rId1" imgW="114300" imgH="215900" progId="Equation.KSEE3">
                  <p:embed/>
                  <p:pic>
                    <p:nvPicPr>
                      <p:cNvPr id="0" name="Picture 10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38850" y="361442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265430" y="1462405"/>
            <a:ext cx="36925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 trận chuyển đổi từ hệ trục toạ độ {1} sang hệ trục toạ độ {0}: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273550" y="1450340"/>
            <a:ext cx="36925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 trận chuyển đổi từ hệ trục toạ độ {2} sang hệ trục toạ độ {1}: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-2147482510"/>
          <p:cNvGraphicFramePr>
            <a:graphicFrameLocks noChangeAspect="1"/>
          </p:cNvGraphicFramePr>
          <p:nvPr/>
        </p:nvGraphicFramePr>
        <p:xfrm>
          <a:off x="4378960" y="2157095"/>
          <a:ext cx="3199765" cy="1477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3" imgW="2006600" imgH="939800" progId="Equation.DSMT4">
                  <p:embed/>
                </p:oleObj>
              </mc:Choice>
              <mc:Fallback>
                <p:oleObj name="" r:id="rId3" imgW="2006600" imgH="939800" progId="Equation.DSMT4">
                  <p:embed/>
                  <p:pic>
                    <p:nvPicPr>
                      <p:cNvPr id="0" name="Picture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78960" y="2157095"/>
                        <a:ext cx="3199765" cy="14776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0840" y="2178050"/>
          <a:ext cx="2977515" cy="1456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5" imgW="1435100" imgH="914400" progId="Equation.KSEE3">
                  <p:embed/>
                </p:oleObj>
              </mc:Choice>
              <mc:Fallback>
                <p:oleObj name="" r:id="rId5" imgW="1435100" imgH="9144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840" y="2178050"/>
                        <a:ext cx="2977515" cy="1456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8281670" y="1476375"/>
            <a:ext cx="36925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 trận chuyển đổi từ hệ trục toạ độ {3} sang hệ trục toạ độ {2}: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-2147482509"/>
          <p:cNvGraphicFramePr>
            <a:graphicFrameLocks noChangeAspect="1"/>
          </p:cNvGraphicFramePr>
          <p:nvPr/>
        </p:nvGraphicFramePr>
        <p:xfrm>
          <a:off x="8418195" y="2157095"/>
          <a:ext cx="3064510" cy="143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7" imgW="2019300" imgH="939800" progId="Equation.DSMT4">
                  <p:embed/>
                </p:oleObj>
              </mc:Choice>
              <mc:Fallback>
                <p:oleObj name="" r:id="rId7" imgW="2019300" imgH="939800" progId="Equation.DSMT4">
                  <p:embed/>
                  <p:pic>
                    <p:nvPicPr>
                      <p:cNvPr id="0" name="Picture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18195" y="2157095"/>
                        <a:ext cx="3064510" cy="1431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/>
          <p:cNvSpPr txBox="1"/>
          <p:nvPr/>
        </p:nvSpPr>
        <p:spPr>
          <a:xfrm>
            <a:off x="1644015" y="3830320"/>
            <a:ext cx="36925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 trận chuyển đổi từ hệ trục toạ độ {4} sang hệ trục toạ độ {3}: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-2147482508"/>
          <p:cNvGraphicFramePr>
            <a:graphicFrameLocks noChangeAspect="1"/>
          </p:cNvGraphicFramePr>
          <p:nvPr/>
        </p:nvGraphicFramePr>
        <p:xfrm>
          <a:off x="1896745" y="4622800"/>
          <a:ext cx="2709545" cy="1565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9" imgW="2006600" imgH="939800" progId="Equation.DSMT4">
                  <p:embed/>
                </p:oleObj>
              </mc:Choice>
              <mc:Fallback>
                <p:oleObj name="" r:id="rId9" imgW="2006600" imgH="939800" progId="Equation.DSMT4">
                  <p:embed/>
                  <p:pic>
                    <p:nvPicPr>
                      <p:cNvPr id="0" name="Picture 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96745" y="4622800"/>
                        <a:ext cx="2709545" cy="15659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3"/>
          <p:cNvSpPr txBox="1"/>
          <p:nvPr/>
        </p:nvSpPr>
        <p:spPr>
          <a:xfrm>
            <a:off x="6482080" y="3830320"/>
            <a:ext cx="36925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 trận chuyển đổi từ hệ trục toạ độ {EE} sang hệ trục toạ độ {4}: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37020" y="4601845"/>
          <a:ext cx="3126105" cy="1456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1" imgW="1346200" imgH="914400" progId="Equation.KSEE3">
                  <p:embed/>
                </p:oleObj>
              </mc:Choice>
              <mc:Fallback>
                <p:oleObj name="" r:id="rId11" imgW="1346200" imgH="9144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37020" y="4601845"/>
                        <a:ext cx="3126105" cy="1456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ĐỘNG HỌC THUẬN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17220" y="1138555"/>
            <a:ext cx="114820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Ma trận chuyển đổi từ hệ trục toạ độ {EE} sang hệ trục toạ độ {0}: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87930" y="1537335"/>
          <a:ext cx="7216140" cy="1456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3834765" imgH="914400" progId="Equation.KSEE3">
                  <p:embed/>
                </p:oleObj>
              </mc:Choice>
              <mc:Fallback>
                <p:oleObj name="" r:id="rId1" imgW="3834765" imgH="9144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7930" y="1537335"/>
                        <a:ext cx="7216140" cy="1456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093085" y="3070225"/>
          <a:ext cx="5885815" cy="1395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3" imgW="2540000" imgH="711200" progId="Equation.KSEE3">
                  <p:embed/>
                </p:oleObj>
              </mc:Choice>
              <mc:Fallback>
                <p:oleObj name="" r:id="rId3" imgW="2540000" imgH="7112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93085" y="3070225"/>
                        <a:ext cx="5885815" cy="1395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8"/>
          <p:cNvSpPr txBox="1"/>
          <p:nvPr/>
        </p:nvSpPr>
        <p:spPr>
          <a:xfrm>
            <a:off x="617220" y="4465955"/>
            <a:ext cx="966216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Đặt thêm 1 hệ trục {C} có tính chất: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118735" y="4834255"/>
          <a:ext cx="2339340" cy="1680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5" imgW="1308100" imgH="939800" progId="Equation.KSEE3">
                  <p:embed/>
                </p:oleObj>
              </mc:Choice>
              <mc:Fallback>
                <p:oleObj name="" r:id="rId5" imgW="1308100" imgH="939800" progId="Equation.KSEE3">
                  <p:embed/>
                  <p:pic>
                    <p:nvPicPr>
                      <p:cNvPr id="0" name="Picture 20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18735" y="4834255"/>
                        <a:ext cx="2339340" cy="1680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ĐỘNG HỌC THUẬN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17220" y="1138555"/>
            <a:ext cx="114820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Vì 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52980" y="1634490"/>
          <a:ext cx="7566025" cy="2791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1" imgW="3263900" imgH="1422400" progId="Equation.KSEE3">
                  <p:embed/>
                </p:oleObj>
              </mc:Choice>
              <mc:Fallback>
                <p:oleObj name="" r:id="rId1" imgW="3263900" imgH="14224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52980" y="1634490"/>
                        <a:ext cx="7566025" cy="2791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8"/>
          <p:cNvSpPr txBox="1"/>
          <p:nvPr/>
        </p:nvSpPr>
        <p:spPr>
          <a:xfrm>
            <a:off x="617220" y="4465955"/>
            <a:ext cx="966216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Hệ tọa độ vị trí điểm cuối của robot: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01090" y="1123950"/>
          <a:ext cx="3258820" cy="46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3" imgW="1790700" imgH="254000" progId="Equation.KSEE3">
                  <p:embed/>
                </p:oleObj>
              </mc:Choice>
              <mc:Fallback>
                <p:oleObj name="" r:id="rId3" imgW="1790700" imgH="254000" progId="Equation.KSEE3">
                  <p:embed/>
                  <p:pic>
                    <p:nvPicPr>
                      <p:cNvPr id="0" name="Picture 30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1090" y="1123950"/>
                        <a:ext cx="3258820" cy="462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30270" y="4853305"/>
          <a:ext cx="5211445" cy="1845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2247900" imgH="939800" progId="Equation.KSEE3">
                  <p:embed/>
                </p:oleObj>
              </mc:Choice>
              <mc:Fallback>
                <p:oleObj name="" r:id="rId5" imgW="2247900" imgH="9398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30270" y="4853305"/>
                        <a:ext cx="5211445" cy="1845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ĐỘNG HỌC NGHỊCH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109" y="1055597"/>
            <a:ext cx="408183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432109" y="1625586"/>
          <a:ext cx="5339054" cy="1803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68580000" imgH="23164800" progId="Equation.DSMT4">
                  <p:embed/>
                </p:oleObj>
              </mc:Choice>
              <mc:Fallback>
                <p:oleObj name="Equation" r:id="rId1" imgW="68580000" imgH="23164800" progId="Equation.DSMT4">
                  <p:embed/>
                  <p:pic>
                    <p:nvPicPr>
                      <p:cNvPr id="0" name="Object 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2109" y="1625586"/>
                        <a:ext cx="5339054" cy="18034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/>
          <p:nvPr/>
        </p:nvSpPr>
        <p:spPr>
          <a:xfrm>
            <a:off x="432109" y="3496429"/>
            <a:ext cx="4560805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432109" y="4411015"/>
            <a:ext cx="164343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+ Theta 1: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068502" y="4450536"/>
          <a:ext cx="2533792" cy="52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3" imgW="28041600" imgH="5791200" progId="Equation.DSMT4">
                  <p:embed/>
                </p:oleObj>
              </mc:Choice>
              <mc:Fallback>
                <p:oleObj name="Equation" r:id="rId3" imgW="28041600" imgH="5791200" progId="Equation.DSMT4">
                  <p:embed/>
                  <p:pic>
                    <p:nvPicPr>
                      <p:cNvPr id="0" name="Picture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8502" y="4450536"/>
                        <a:ext cx="2533792" cy="523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/>
          <p:nvPr/>
        </p:nvSpPr>
        <p:spPr>
          <a:xfrm>
            <a:off x="6209991" y="1058208"/>
            <a:ext cx="164343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+ Theta 2: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209991" y="1581428"/>
          <a:ext cx="5549899" cy="1350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5" imgW="4000500" imgH="974090" progId="Equation.DSMT4">
                  <p:embed/>
                </p:oleObj>
              </mc:Choice>
              <mc:Fallback>
                <p:oleObj name="Equation" r:id="rId5" imgW="4000500" imgH="974090" progId="Equation.DSMT4">
                  <p:embed/>
                  <p:pic>
                    <p:nvPicPr>
                      <p:cNvPr id="0" name="Picture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09991" y="1581428"/>
                        <a:ext cx="5549899" cy="1350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6209991" y="5148732"/>
          <a:ext cx="3446915" cy="528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7" imgW="1553210" imgH="239395" progId="Equation.DSMT4">
                  <p:embed/>
                </p:oleObj>
              </mc:Choice>
              <mc:Fallback>
                <p:oleObj name="Equation" r:id="rId7" imgW="1553210" imgH="239395" progId="Equation.DSMT4">
                  <p:embed/>
                  <p:pic>
                    <p:nvPicPr>
                      <p:cNvPr id="0" name="Picture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09991" y="5148732"/>
                        <a:ext cx="3446915" cy="528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6209991" y="6133366"/>
          <a:ext cx="2155667" cy="52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9" imgW="981710" imgH="239395" progId="Equation.DSMT4">
                  <p:embed/>
                </p:oleObj>
              </mc:Choice>
              <mc:Fallback>
                <p:oleObj name="Equation" r:id="rId9" imgW="981710" imgH="239395" progId="Equation.DSMT4">
                  <p:embed/>
                  <p:pic>
                    <p:nvPicPr>
                      <p:cNvPr id="0" name="Picture 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09991" y="6133366"/>
                        <a:ext cx="2155667" cy="523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9"/>
          <p:cNvSpPr/>
          <p:nvPr/>
        </p:nvSpPr>
        <p:spPr>
          <a:xfrm>
            <a:off x="6209991" y="2985338"/>
            <a:ext cx="164343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+ Theta 3: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0"/>
          <p:cNvSpPr/>
          <p:nvPr/>
        </p:nvSpPr>
        <p:spPr>
          <a:xfrm>
            <a:off x="6209991" y="5677400"/>
            <a:ext cx="164343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+ Theta 4: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6252769" y="3706135"/>
          <a:ext cx="3538718" cy="1350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1" imgW="2476500" imgH="946150" progId="Equation.DSMT4">
                  <p:embed/>
                </p:oleObj>
              </mc:Choice>
              <mc:Fallback>
                <p:oleObj name="Equation" r:id="rId11" imgW="2476500" imgH="946150" progId="Equation.DSMT4">
                  <p:embed/>
                  <p:pic>
                    <p:nvPicPr>
                      <p:cNvPr id="0" name="Picture 1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52769" y="3706135"/>
                        <a:ext cx="3538718" cy="1350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432109" y="5148732"/>
          <a:ext cx="2746520" cy="1087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3" imgW="45720000" imgH="17678400" progId="Equation.DSMT4">
                  <p:embed/>
                </p:oleObj>
              </mc:Choice>
              <mc:Fallback>
                <p:oleObj name="Equation" r:id="rId13" imgW="45720000" imgH="17678400" progId="Equation.DSMT4">
                  <p:embed/>
                  <p:pic>
                    <p:nvPicPr>
                      <p:cNvPr id="0" name="Picture 1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2109" y="5148732"/>
                        <a:ext cx="2746520" cy="1087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3335398" y="4934235"/>
          <a:ext cx="2603834" cy="1518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15" imgW="43891200" imgH="25603200" progId="Equation.DSMT4">
                  <p:embed/>
                </p:oleObj>
              </mc:Choice>
              <mc:Fallback>
                <p:oleObj name="Equation" r:id="rId15" imgW="43891200" imgH="25603200" progId="Equation.DSMT4">
                  <p:embed/>
                  <p:pic>
                    <p:nvPicPr>
                      <p:cNvPr id="0" name="Picture 2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35398" y="4934235"/>
                        <a:ext cx="2603834" cy="15189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CHỨNG ĐỘNG HỌC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0981" y="1129454"/>
            <a:ext cx="5351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0981" y="4602840"/>
            <a:ext cx="95572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3870" y="1648460"/>
            <a:ext cx="6024880" cy="2981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 GIAN LÀM VIỆC CỦA ROBOT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0981" y="1129454"/>
            <a:ext cx="43408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mô phỏng bằng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35256" y="1589765"/>
            <a:ext cx="955723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hạn các góc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HOẠCH QUỸ ĐẠO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0981" y="1129454"/>
            <a:ext cx="43408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mô phỏng bằng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0981" y="4602840"/>
            <a:ext cx="95572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BỘ ĐIỀU KHIỂN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06620" y="2869841"/>
          <a:ext cx="10626359" cy="3191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Visio" r:id="rId1" imgW="7618095" imgH="2298700" progId="Visio.Drawing.15">
                  <p:embed/>
                </p:oleObj>
              </mc:Choice>
              <mc:Fallback>
                <p:oleObj name="Visio" r:id="rId1" imgW="7618095" imgH="2298700" progId="Visio.Drawing.15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620" y="2869841"/>
                        <a:ext cx="10626359" cy="31916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6620" y="1351843"/>
            <a:ext cx="7645042" cy="1133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K=0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BỘ ĐIỀU KHIỂN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602229" y="4156303"/>
          <a:ext cx="6835141" cy="2391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Visio" r:id="rId1" imgW="6439535" imgH="2253615" progId="Visio.Drawing.15">
                  <p:embed/>
                </p:oleObj>
              </mc:Choice>
              <mc:Fallback>
                <p:oleObj name="Visio" r:id="rId1" imgW="6439535" imgH="2253615" progId="Visio.Drawing.15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2229" y="4156303"/>
                        <a:ext cx="6835141" cy="23917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0105" y="806347"/>
            <a:ext cx="10179390" cy="33499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K=0, PD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Sau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Ki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20-30%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10*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BỘ ĐIỀU KHIỂN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3826" y="896906"/>
            <a:ext cx="11151947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PI. Quay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594663" y="2236078"/>
          <a:ext cx="6850272" cy="2078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Visio" r:id="rId1" imgW="7618095" imgH="2286000" progId="Visio.Drawing.15">
                  <p:embed/>
                </p:oleObj>
              </mc:Choice>
              <mc:Fallback>
                <p:oleObj name="Visio" r:id="rId1" imgW="7618095" imgH="2286000" progId="Visio.Drawing.15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4663" y="2236078"/>
                        <a:ext cx="6850272" cy="20785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43826" y="4621922"/>
            <a:ext cx="111519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90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Kd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 Sau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0.5*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vọt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Kd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vọt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CHỨNG ĐỘNG HỌC THUẬN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20843" y="1124952"/>
            <a:ext cx="12509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358900" y="1216025"/>
          <a:ext cx="3397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" imgW="46939200" imgH="5791200" progId="Equation.DSMT4">
                  <p:embed/>
                </p:oleObj>
              </mc:Choice>
              <mc:Fallback>
                <p:oleObj name="Equation" r:id="rId1" imgW="46939200" imgH="5791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1216025"/>
                        <a:ext cx="3397250" cy="419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20843" y="1597858"/>
            <a:ext cx="33848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17955" y="2098136"/>
          <a:ext cx="1250950" cy="1368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16154400" imgH="17678400" progId="Equation.DSMT4">
                  <p:embed/>
                </p:oleObj>
              </mc:Choice>
              <mc:Fallback>
                <p:oleObj name="Equation" r:id="rId3" imgW="16154400" imgH="17678400" progId="Equation.DSMT4">
                  <p:embed/>
                  <p:pic>
                    <p:nvPicPr>
                      <p:cNvPr id="0" name="Picture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7955" y="2098136"/>
                        <a:ext cx="1250950" cy="13689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20842" y="3467100"/>
            <a:ext cx="33848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 descr="Không có mô tả.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/>
          <a:stretch>
            <a:fillRect/>
          </a:stretch>
        </p:blipFill>
        <p:spPr bwMode="auto">
          <a:xfrm>
            <a:off x="617955" y="4089278"/>
            <a:ext cx="4755509" cy="234172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7154863" y="1211263"/>
          <a:ext cx="38258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6" imgW="52730400" imgH="5791200" progId="Equation.DSMT4">
                  <p:embed/>
                </p:oleObj>
              </mc:Choice>
              <mc:Fallback>
                <p:oleObj name="Equation" r:id="rId6" imgW="52730400" imgH="579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863" y="1211263"/>
                        <a:ext cx="3825875" cy="427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35963" y="1124952"/>
            <a:ext cx="1250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endParaRPr lang="en-US" sz="2800" dirty="0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6376750" y="2121078"/>
          <a:ext cx="1353022" cy="1307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8" imgW="18288000" imgH="17678400" progId="Equation.DSMT4">
                  <p:embed/>
                </p:oleObj>
              </mc:Choice>
              <mc:Fallback>
                <p:oleObj name="Equation" r:id="rId8" imgW="18288000" imgH="17678400" progId="Equation.DSMT4">
                  <p:embed/>
                  <p:pic>
                    <p:nvPicPr>
                      <p:cNvPr id="0" name="Picture 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376750" y="2121078"/>
                        <a:ext cx="1353022" cy="1307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6096000" y="1646026"/>
            <a:ext cx="33848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6096000" y="3467100"/>
            <a:ext cx="33848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" name="Picture 21" descr="Không có mô tả.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7" r="20834"/>
          <a:stretch>
            <a:fillRect/>
          </a:stretch>
        </p:blipFill>
        <p:spPr bwMode="auto">
          <a:xfrm>
            <a:off x="6376749" y="4094295"/>
            <a:ext cx="4470417" cy="2336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CHỨNG BỘ NGHIỆM ĐỘNG HỌC NGHỊCH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Không có mô tả."/>
          <p:cNvPicPr>
            <a:picLocks noGrp="1" noChangeAspect="1"/>
          </p:cNvPicPr>
          <p:nvPr>
            <p:ph sz="quarter" idx="17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96" b="21759"/>
          <a:stretch>
            <a:fillRect/>
          </a:stretch>
        </p:blipFill>
        <p:spPr bwMode="auto">
          <a:xfrm>
            <a:off x="7730262" y="1669332"/>
            <a:ext cx="3177098" cy="400807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037294" y="5948700"/>
            <a:ext cx="4563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4777" y="1436864"/>
            <a:ext cx="6759388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vượt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Robot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khớp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ownload Captivating Thank You For Watching Message in Pastel Background  Wallpaper | Wallpapers.co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3339</Words>
  <Application>WPS Presentation</Application>
  <PresentationFormat>Widescreen</PresentationFormat>
  <Paragraphs>217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32</vt:i4>
      </vt:variant>
      <vt:variant>
        <vt:lpstr>幻灯片标题</vt:lpstr>
      </vt:variant>
      <vt:variant>
        <vt:i4>19</vt:i4>
      </vt:variant>
    </vt:vector>
  </HeadingPairs>
  <TitlesOfParts>
    <vt:vector size="61" baseType="lpstr">
      <vt:lpstr>Arial</vt:lpstr>
      <vt:lpstr>SimSun</vt:lpstr>
      <vt:lpstr>Wingdings</vt:lpstr>
      <vt:lpstr>Times New Roman</vt:lpstr>
      <vt:lpstr>Symbol</vt:lpstr>
      <vt:lpstr>Calibri</vt:lpstr>
      <vt:lpstr>Microsoft YaHei</vt:lpstr>
      <vt:lpstr>Arial Unicode MS</vt:lpstr>
      <vt:lpstr>Calibri Light</vt:lpstr>
      <vt:lpstr>Office Theme</vt:lpstr>
      <vt:lpstr>Visio.Drawing.15</vt:lpstr>
      <vt:lpstr>Equation.DSMT4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Visio.Drawing.15</vt:lpstr>
      <vt:lpstr>Visio.Drawing.15</vt:lpstr>
      <vt:lpstr>Visio.Drawing.15</vt:lpstr>
      <vt:lpstr>Equation.DSMT4</vt:lpstr>
      <vt:lpstr>Equation.KSEE3</vt:lpstr>
      <vt:lpstr>Equation.DSMT4</vt:lpstr>
      <vt:lpstr>Equation.DSMT4</vt:lpstr>
      <vt:lpstr>Equation.DSMT4</vt:lpstr>
      <vt:lpstr>Equation.KSEE3</vt:lpstr>
      <vt:lpstr>Equation.KSEE3</vt:lpstr>
      <vt:lpstr>Equation.KSEE3</vt:lpstr>
      <vt:lpstr>Equation.DSMT4</vt:lpstr>
      <vt:lpstr>Equation.KSEE3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Mã Văn Triệ</dc:creator>
  <cp:lastModifiedBy>Vu Tien Phat</cp:lastModifiedBy>
  <cp:revision>35</cp:revision>
  <dcterms:created xsi:type="dcterms:W3CDTF">2023-12-31T18:54:00Z</dcterms:created>
  <dcterms:modified xsi:type="dcterms:W3CDTF">2024-10-11T16:52:19Z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CCF8FDFBA298476498D650D5D1D8A3CA_13</vt:lpwstr>
  </property>
  <property fmtid="{D5CDD505-2E9C-101B-9397-08002B2CF9AE}" pid="3" name="KSOProductBuildVer">
    <vt:lpwstr>1033-12.2.0.18586</vt:lpwstr>
  </property>
</Properties>
</file>